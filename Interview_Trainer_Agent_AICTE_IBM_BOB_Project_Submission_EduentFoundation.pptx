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10" r:id="rId16"/>
    <p:sldId id="311" r:id="rId17"/>
    <p:sldId id="312" r:id="rId18"/>
    <p:sldId id="304" r:id="rId19"/>
    <p:sldId id="305" r:id="rId20"/>
    <p:sldId id="306" r:id="rId21"/>
    <p:sldId id="307" r:id="rId22"/>
    <p:sldId id="308" r:id="rId23"/>
    <p:sldId id="30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4660"/>
  </p:normalViewPr>
  <p:slideViewPr>
    <p:cSldViewPr snapToGrid="0">
      <p:cViewPr>
        <p:scale>
          <a:sx n="66" d="100"/>
          <a:sy n="66" d="100"/>
        </p:scale>
        <p:origin x="1229"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sivaneshk23/AI-Interview-Coach"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25577232"/>
              </p:ext>
            </p:extLst>
          </p:nvPr>
        </p:nvGraphicFramePr>
        <p:xfrm>
          <a:off x="609626" y="2600315"/>
          <a:ext cx="11031766" cy="2167128"/>
        </p:xfrm>
        <a:graphic>
          <a:graphicData uri="http://schemas.openxmlformats.org/drawingml/2006/table">
            <a:tbl>
              <a:tblPr>
                <a:noFill/>
                <a:tableStyleId>{0AAD8F4D-43EB-41E5-8A38-28AB6DFB1B60}</a:tableStyleId>
              </a:tblPr>
              <a:tblGrid>
                <a:gridCol w="2424604">
                  <a:extLst>
                    <a:ext uri="{9D8B030D-6E8A-4147-A177-3AD203B41FA5}">
                      <a16:colId xmlns:a16="http://schemas.microsoft.com/office/drawing/2014/main" val="20000"/>
                    </a:ext>
                  </a:extLst>
                </a:gridCol>
                <a:gridCol w="2678312">
                  <a:extLst>
                    <a:ext uri="{9D8B030D-6E8A-4147-A177-3AD203B41FA5}">
                      <a16:colId xmlns:a16="http://schemas.microsoft.com/office/drawing/2014/main" val="20002"/>
                    </a:ext>
                  </a:extLst>
                </a:gridCol>
                <a:gridCol w="3059796">
                  <a:extLst>
                    <a:ext uri="{9D8B030D-6E8A-4147-A177-3AD203B41FA5}">
                      <a16:colId xmlns:a16="http://schemas.microsoft.com/office/drawing/2014/main" val="20003"/>
                    </a:ext>
                  </a:extLst>
                </a:gridCol>
                <a:gridCol w="286905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2000" dirty="0"/>
                    </a:p>
                    <a:p>
                      <a:pPr marL="0" marR="0" lvl="0" indent="0" algn="ctr" rtl="0">
                        <a:spcBef>
                          <a:spcPts val="0"/>
                        </a:spcBef>
                        <a:spcAft>
                          <a:spcPts val="0"/>
                        </a:spcAft>
                        <a:buNone/>
                      </a:pPr>
                      <a:r>
                        <a:rPr lang="en-US" sz="2000" dirty="0"/>
                        <a:t>Sivanesh K</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2000" dirty="0"/>
                    </a:p>
                    <a:p>
                      <a:pPr marL="0" marR="0" lvl="0" indent="0" algn="ctr" rtl="0">
                        <a:spcBef>
                          <a:spcPts val="0"/>
                        </a:spcBef>
                        <a:spcAft>
                          <a:spcPts val="0"/>
                        </a:spcAft>
                        <a:buNone/>
                      </a:pPr>
                      <a:r>
                        <a:rPr lang="en-US" sz="2000" dirty="0"/>
                        <a:t>sivaneshk23@gmail.com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2000" dirty="0"/>
                    </a:p>
                    <a:p>
                      <a:pPr marL="0" marR="0" lvl="0" indent="0" algn="ctr" rtl="0">
                        <a:spcBef>
                          <a:spcPts val="0"/>
                        </a:spcBef>
                        <a:spcAft>
                          <a:spcPts val="0"/>
                        </a:spcAft>
                        <a:buNone/>
                      </a:pPr>
                      <a:r>
                        <a:rPr lang="en-US" sz="2000" dirty="0"/>
                        <a:t>+919789704674</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932902" y="3628103"/>
            <a:ext cx="1002891" cy="996497"/>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400" b="1" dirty="0"/>
              <a:t>Domain of  Project – </a:t>
            </a:r>
            <a:r>
              <a:rPr lang="en-IN" sz="2800" b="1" dirty="0">
                <a:highlight>
                  <a:srgbClr val="FFFF00"/>
                </a:highlight>
              </a:rPr>
              <a:t>Artificial Intelligence &amp; Generative AI</a:t>
            </a: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400" b="1" dirty="0"/>
              <a:t>Project Tile – </a:t>
            </a:r>
            <a:r>
              <a:rPr lang="en-IN" sz="2800" b="1" dirty="0">
                <a:highlight>
                  <a:srgbClr val="FFFF00"/>
                </a:highlight>
              </a:rPr>
              <a:t>Interview Trainer Agent</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509200"/>
          </a:xfrm>
          <a:prstGeom prst="rect">
            <a:avLst/>
          </a:prstGeom>
          <a:noFill/>
        </p:spPr>
        <p:txBody>
          <a:bodyPr wrap="square" rtlCol="0">
            <a:spAutoFit/>
          </a:bodyPr>
          <a:lstStyle/>
          <a:p>
            <a:r>
              <a:rPr lang="en-IN" sz="1600" b="1" dirty="0"/>
              <a:t>Problem Statement : Interview Trainer Agent</a:t>
            </a:r>
            <a:endParaRPr lang="en-IN" sz="1600" dirty="0"/>
          </a:p>
          <a:p>
            <a:r>
              <a:rPr lang="en-IN" sz="1600" b="1" dirty="0"/>
              <a:t>The Challenge</a:t>
            </a:r>
            <a:br>
              <a:rPr lang="en-IN" sz="1600" dirty="0"/>
            </a:br>
            <a:r>
              <a:rPr lang="en-IN" sz="1600" dirty="0"/>
              <a:t>Job seekers often struggle to prepare for interviews because questions, role expectations, technical topics, and HR guidance are scattered across different sources. Generic interview preparation does not consider a candidate's </a:t>
            </a:r>
            <a:r>
              <a:rPr lang="en-IN" sz="1600" b="1" dirty="0"/>
              <a:t>profile, experience level, resume, and target job role</a:t>
            </a:r>
            <a:r>
              <a:rPr lang="en-IN" sz="1600" dirty="0"/>
              <a:t>, making it difficult to practice effectively.</a:t>
            </a:r>
          </a:p>
          <a:p>
            <a:r>
              <a:rPr lang="en-IN" sz="1600" b="1" dirty="0"/>
              <a:t>The Objective</a:t>
            </a:r>
            <a:br>
              <a:rPr lang="en-IN" sz="1600" dirty="0"/>
            </a:br>
            <a:r>
              <a:rPr lang="en-IN" sz="1600" dirty="0"/>
              <a:t>Build an </a:t>
            </a:r>
            <a:r>
              <a:rPr lang="en-IN" sz="1600" b="1" dirty="0"/>
              <a:t>AI-powered Interview Trainer Agent</a:t>
            </a:r>
            <a:r>
              <a:rPr lang="en-IN" sz="1600" dirty="0"/>
              <a:t> using </a:t>
            </a:r>
            <a:r>
              <a:rPr lang="en-IN" sz="1600" b="1" dirty="0"/>
              <a:t>IBM Granite and RAG</a:t>
            </a:r>
            <a:r>
              <a:rPr lang="en-IN" sz="1600" dirty="0"/>
              <a:t> that provides personalized interview preparation. The solution should:</a:t>
            </a:r>
          </a:p>
          <a:p>
            <a:r>
              <a:rPr lang="en-IN" sz="1600" dirty="0"/>
              <a:t>• </a:t>
            </a:r>
            <a:r>
              <a:rPr lang="en-IN" sz="1600" b="1" dirty="0"/>
              <a:t>Profile-Based Preparation</a:t>
            </a:r>
            <a:r>
              <a:rPr lang="en-IN" sz="1600" dirty="0"/>
              <a:t> – Generate interview preparation based on the candidate's experience, resume, and target job role.</a:t>
            </a:r>
            <a:br>
              <a:rPr lang="en-IN" sz="1600" dirty="0"/>
            </a:br>
            <a:r>
              <a:rPr lang="en-IN" sz="1600" dirty="0"/>
              <a:t>• </a:t>
            </a:r>
            <a:r>
              <a:rPr lang="en-IN" sz="1600" b="1" dirty="0"/>
              <a:t>RAG-Based Retrieval</a:t>
            </a:r>
            <a:r>
              <a:rPr lang="en-IN" sz="1600" dirty="0"/>
              <a:t> – Retrieve relevant technical questions, </a:t>
            </a:r>
            <a:r>
              <a:rPr lang="en-IN" sz="1600" dirty="0" err="1"/>
              <a:t>behavioral</a:t>
            </a:r>
            <a:r>
              <a:rPr lang="en-IN" sz="1600" dirty="0"/>
              <a:t> scenarios, industry expectations, and HR guidance from a curated knowledge base.</a:t>
            </a:r>
            <a:br>
              <a:rPr lang="en-IN" sz="1600" dirty="0"/>
            </a:br>
            <a:r>
              <a:rPr lang="en-IN" sz="1600" dirty="0"/>
              <a:t>• </a:t>
            </a:r>
            <a:r>
              <a:rPr lang="en-IN" sz="1600" b="1" dirty="0"/>
              <a:t>Personalized Question Generation</a:t>
            </a:r>
            <a:r>
              <a:rPr lang="en-IN" sz="1600" dirty="0"/>
              <a:t> – Create role-specific </a:t>
            </a:r>
            <a:r>
              <a:rPr lang="en-IN" sz="1600" b="1" dirty="0"/>
              <a:t>technical, HR, and </a:t>
            </a:r>
            <a:r>
              <a:rPr lang="en-IN" sz="1600" b="1" dirty="0" err="1"/>
              <a:t>behavioral</a:t>
            </a:r>
            <a:r>
              <a:rPr lang="en-IN" sz="1600" dirty="0"/>
              <a:t> interview questions.</a:t>
            </a:r>
            <a:br>
              <a:rPr lang="en-IN" sz="1600" dirty="0"/>
            </a:br>
            <a:r>
              <a:rPr lang="en-IN" sz="1600" dirty="0"/>
              <a:t>• </a:t>
            </a:r>
            <a:r>
              <a:rPr lang="en-IN" sz="1600" b="1" dirty="0"/>
              <a:t>Model Answers &amp; Feedback</a:t>
            </a:r>
            <a:r>
              <a:rPr lang="en-IN" sz="1600" dirty="0"/>
              <a:t> – Provide suitable sample answers, improvement suggestions, and response feedback.</a:t>
            </a:r>
            <a:br>
              <a:rPr lang="en-IN" sz="1600" dirty="0"/>
            </a:br>
            <a:r>
              <a:rPr lang="en-IN" sz="1600" dirty="0"/>
              <a:t>• </a:t>
            </a:r>
            <a:r>
              <a:rPr lang="en-IN" sz="1600" b="1" dirty="0"/>
              <a:t>Multi-Role Support</a:t>
            </a:r>
            <a:r>
              <a:rPr lang="en-IN" sz="1600" dirty="0"/>
              <a:t> – Adapt preparation for different job roles and experience levels.</a:t>
            </a:r>
            <a:br>
              <a:rPr lang="en-IN" sz="1600" dirty="0"/>
            </a:br>
            <a:r>
              <a:rPr lang="en-IN" sz="1600" dirty="0"/>
              <a:t>• </a:t>
            </a:r>
            <a:r>
              <a:rPr lang="en-IN" sz="1600" b="1" dirty="0"/>
              <a:t>Interview Assessment</a:t>
            </a:r>
            <a:r>
              <a:rPr lang="en-IN" sz="1600" dirty="0"/>
              <a:t> – Evaluate responses based on relevance, clarity, technical understanding, and communication.</a:t>
            </a:r>
            <a:br>
              <a:rPr lang="en-IN" sz="1600" dirty="0"/>
            </a:br>
            <a:r>
              <a:rPr lang="en-IN" sz="1600" dirty="0"/>
              <a:t>• </a:t>
            </a:r>
            <a:r>
              <a:rPr lang="en-IN" sz="1600" b="1" dirty="0"/>
              <a:t>IBM Granite Integration</a:t>
            </a:r>
            <a:r>
              <a:rPr lang="en-IN" sz="1600" dirty="0"/>
              <a:t> – Use IBM Granite through IBM Cloud for AI-powered question generation and response analysis.</a:t>
            </a:r>
            <a:br>
              <a:rPr lang="en-IN" sz="1600" dirty="0"/>
            </a:br>
            <a:r>
              <a:rPr lang="en-IN" sz="1600" dirty="0"/>
              <a:t>• </a:t>
            </a:r>
            <a:r>
              <a:rPr lang="en-IN" sz="1600" b="1" dirty="0"/>
              <a:t>Interactive Interview Practice</a:t>
            </a:r>
            <a:r>
              <a:rPr lang="en-IN" sz="1600" dirty="0"/>
              <a:t> – Allow users to practice interviews and receive personalized guidance for improving their performance.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868680"/>
            <a:ext cx="10607040" cy="5632311"/>
          </a:xfrm>
          <a:prstGeom prst="rect">
            <a:avLst/>
          </a:prstGeom>
          <a:noFill/>
        </p:spPr>
        <p:txBody>
          <a:bodyPr wrap="square" rtlCol="0">
            <a:spAutoFit/>
          </a:bodyPr>
          <a:lstStyle/>
          <a:p>
            <a:r>
              <a:rPr lang="en-IN" sz="1500" b="1" dirty="0"/>
              <a:t>Proposed Solution: AI-Powered Interview Trainer Agent</a:t>
            </a:r>
            <a:br>
              <a:rPr lang="en-IN" sz="1500" dirty="0"/>
            </a:br>
            <a:r>
              <a:rPr lang="en-IN" sz="1500" dirty="0"/>
              <a:t>The proposed solution is an </a:t>
            </a:r>
            <a:r>
              <a:rPr lang="en-IN" sz="1500" b="1" dirty="0"/>
              <a:t>AI-powered Interview Trainer Agent</a:t>
            </a:r>
            <a:r>
              <a:rPr lang="en-IN" sz="1500" dirty="0"/>
              <a:t> built using </a:t>
            </a:r>
            <a:r>
              <a:rPr lang="en-IN" sz="1500" b="1" dirty="0"/>
              <a:t>IBM Bob, IBM watsonx.ai, and IBM Granite</a:t>
            </a:r>
            <a:r>
              <a:rPr lang="en-IN" sz="1500" dirty="0"/>
              <a:t> to provide personalized and interactive interview preparation for different job roles.</a:t>
            </a:r>
          </a:p>
          <a:p>
            <a:pPr algn="just"/>
            <a:r>
              <a:rPr lang="en-IN" sz="1500" dirty="0"/>
              <a:t>The solution uses a </a:t>
            </a:r>
            <a:r>
              <a:rPr lang="en-IN" sz="1500" b="1" dirty="0"/>
              <a:t>Retrieval-Augmented Generation (RAG)</a:t>
            </a:r>
            <a:r>
              <a:rPr lang="en-IN" sz="1500" dirty="0"/>
              <a:t> pipeline to retrieve relevant interview questions, role expectations, </a:t>
            </a:r>
            <a:r>
              <a:rPr lang="en-IN" sz="1500" dirty="0" err="1"/>
              <a:t>behavioral</a:t>
            </a:r>
            <a:r>
              <a:rPr lang="en-IN" sz="1500" dirty="0"/>
              <a:t> scenarios, and interview guidance from a curated knowledge base, enabling the agent to generate accurate and context-aware responses.</a:t>
            </a:r>
          </a:p>
          <a:p>
            <a:pPr algn="just"/>
            <a:r>
              <a:rPr lang="en-IN" sz="1500" dirty="0"/>
              <a:t>The system provides </a:t>
            </a:r>
            <a:r>
              <a:rPr lang="en-IN" sz="1500" b="1" dirty="0"/>
              <a:t>personalized interview preparation</a:t>
            </a:r>
            <a:r>
              <a:rPr lang="en-IN" sz="1500" dirty="0"/>
              <a:t> based on the user's </a:t>
            </a:r>
            <a:r>
              <a:rPr lang="en-IN" sz="1500" b="1" dirty="0"/>
              <a:t>name, experience level, job role, skills, and resume/profile information</a:t>
            </a:r>
            <a:r>
              <a:rPr lang="en-IN" sz="1500" dirty="0"/>
              <a:t>. It supports preparation for both </a:t>
            </a:r>
            <a:r>
              <a:rPr lang="en-IN" sz="1500" b="1" dirty="0"/>
              <a:t>technical and non-technical roles</a:t>
            </a:r>
            <a:r>
              <a:rPr lang="en-IN" sz="1500" dirty="0"/>
              <a:t>.</a:t>
            </a:r>
          </a:p>
          <a:p>
            <a:r>
              <a:rPr lang="en-IN" sz="1500" dirty="0"/>
              <a:t>The solution consists of four key capabilities:</a:t>
            </a:r>
            <a:br>
              <a:rPr lang="en-IN" sz="1500" dirty="0"/>
            </a:br>
            <a:r>
              <a:rPr lang="en-IN" sz="1500" b="1" dirty="0"/>
              <a:t>Interview Question Agent</a:t>
            </a:r>
            <a:r>
              <a:rPr lang="en-IN" sz="1500" dirty="0"/>
              <a:t> generates role-specific technical, HR, </a:t>
            </a:r>
            <a:r>
              <a:rPr lang="en-IN" sz="1500" dirty="0" err="1"/>
              <a:t>behavioral</a:t>
            </a:r>
            <a:r>
              <a:rPr lang="en-IN" sz="1500" dirty="0"/>
              <a:t>, and situational questions.</a:t>
            </a:r>
            <a:br>
              <a:rPr lang="en-IN" sz="1500" dirty="0"/>
            </a:br>
            <a:r>
              <a:rPr lang="en-IN" sz="1500" b="1" dirty="0"/>
              <a:t>Answer Evaluation Agent</a:t>
            </a:r>
            <a:r>
              <a:rPr lang="en-IN" sz="1500" dirty="0"/>
              <a:t> evaluates the user's responses and provides a score, strengths, weaknesses, and improvement suggestions.</a:t>
            </a:r>
            <a:br>
              <a:rPr lang="en-IN" sz="1500" dirty="0"/>
            </a:br>
            <a:r>
              <a:rPr lang="en-IN" sz="1500" b="1" dirty="0"/>
              <a:t>Interview Guidance Agent</a:t>
            </a:r>
            <a:r>
              <a:rPr lang="en-IN" sz="1500" dirty="0"/>
              <a:t> provides model answers, preparation strategies, and tips based on the selected job role and experience level.</a:t>
            </a:r>
            <a:br>
              <a:rPr lang="en-IN" sz="1500" dirty="0"/>
            </a:br>
            <a:r>
              <a:rPr lang="en-IN" sz="1500" b="1" dirty="0"/>
              <a:t>RAG Knowledge Agent</a:t>
            </a:r>
            <a:r>
              <a:rPr lang="en-IN" sz="1500" dirty="0"/>
              <a:t> retrieves relevant interview information from the curated knowledge base to improve the relevance and reliability of generated responses.</a:t>
            </a:r>
          </a:p>
          <a:p>
            <a:pPr algn="just"/>
            <a:r>
              <a:rPr lang="en-IN" sz="1500" dirty="0"/>
              <a:t>The solution includes an </a:t>
            </a:r>
            <a:r>
              <a:rPr lang="en-IN" sz="1500" b="1" dirty="0"/>
              <a:t>interactive web interface</a:t>
            </a:r>
            <a:r>
              <a:rPr lang="en-IN" sz="1500" dirty="0"/>
              <a:t> where users can enter their profile details, select a job role, practice interview questions, submit answers, and receive immediate AI-generated feedback.</a:t>
            </a:r>
          </a:p>
          <a:p>
            <a:pPr algn="just"/>
            <a:r>
              <a:rPr lang="en-IN" sz="1500" b="1" dirty="0"/>
              <a:t>IBM Bob</a:t>
            </a:r>
            <a:r>
              <a:rPr lang="en-IN" sz="1500" dirty="0"/>
              <a:t> is used to develop and orchestrate the agentic workflow, while </a:t>
            </a:r>
            <a:r>
              <a:rPr lang="en-IN" sz="1500" b="1" dirty="0"/>
              <a:t>IBM watsonx.ai and IBM Granite</a:t>
            </a:r>
            <a:r>
              <a:rPr lang="en-IN" sz="1500" dirty="0"/>
              <a:t> provide the generative AI capabilities for question generation, answer evaluation, reasoning, and personalized feedback.</a:t>
            </a:r>
          </a:p>
          <a:p>
            <a:pPr algn="just"/>
            <a:r>
              <a:rPr lang="en-IN" sz="1500" dirty="0"/>
              <a:t>The RAG architecture helps reduce generic responses by grounding the AI's output in relevant interview knowledge and role-specific information.</a:t>
            </a:r>
          </a:p>
          <a:p>
            <a:pPr algn="just"/>
            <a:r>
              <a:rPr lang="en-IN" sz="1500" dirty="0"/>
              <a:t>Overall, the solution delivers an </a:t>
            </a:r>
            <a:r>
              <a:rPr lang="en-IN" sz="1500" b="1" dirty="0"/>
              <a:t>end-to-end intelligent interview preparation assistant</a:t>
            </a:r>
            <a:r>
              <a:rPr lang="en-IN" sz="1500" dirty="0"/>
              <a:t> that helps users practice realistic interviews, identify weaknesses, improve their answers, and build confidence for competitive job interviews.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07015"/>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247317"/>
          </a:xfrm>
          <a:prstGeom prst="rect">
            <a:avLst/>
          </a:prstGeom>
          <a:noFill/>
        </p:spPr>
        <p:txBody>
          <a:bodyPr wrap="square" rtlCol="0">
            <a:spAutoFit/>
          </a:bodyPr>
          <a:lstStyle/>
          <a:p>
            <a:pPr algn="just"/>
            <a:r>
              <a:rPr lang="en-IN" sz="1800" dirty="0"/>
              <a:t>• </a:t>
            </a:r>
            <a:r>
              <a:rPr lang="en-IN" sz="1800" b="1" dirty="0"/>
              <a:t>IBM Bob platform</a:t>
            </a:r>
            <a:r>
              <a:rPr lang="en-IN" sz="1800" dirty="0"/>
              <a:t> - For developing, coding, and orchestrating the AI-powered Interview Trainer Agent and its workflow.</a:t>
            </a:r>
          </a:p>
          <a:p>
            <a:pPr algn="just"/>
            <a:r>
              <a:rPr lang="en-IN" sz="1800" dirty="0"/>
              <a:t>• </a:t>
            </a:r>
            <a:r>
              <a:rPr lang="en-IN" sz="1800" b="1" dirty="0"/>
              <a:t>IBM Granite model</a:t>
            </a:r>
            <a:r>
              <a:rPr lang="en-IN" sz="1800" dirty="0"/>
              <a:t> - For natural language understanding, reasoning, question generation, personalized interview responses, and improvement suggestions.</a:t>
            </a:r>
          </a:p>
          <a:p>
            <a:pPr algn="just"/>
            <a:r>
              <a:rPr lang="en-IN" sz="1800" dirty="0"/>
              <a:t>• </a:t>
            </a:r>
            <a:r>
              <a:rPr lang="en-IN" sz="1800" b="1" dirty="0"/>
              <a:t>IBM Cloud / watsonx.ai</a:t>
            </a:r>
            <a:r>
              <a:rPr lang="en-IN" sz="1800" dirty="0"/>
              <a:t> - Provides the IBM Cloud environment and AI services required to integrate and use IBM Granite models securely.</a:t>
            </a:r>
          </a:p>
          <a:p>
            <a:pPr algn="just"/>
            <a:r>
              <a:rPr lang="en-IN" sz="1800" dirty="0"/>
              <a:t>• </a:t>
            </a:r>
            <a:r>
              <a:rPr lang="en-IN" sz="1800" b="1" dirty="0"/>
              <a:t>RAG (Retrieval-Augmented Generation)</a:t>
            </a:r>
            <a:r>
              <a:rPr lang="en-IN" sz="1800" dirty="0"/>
              <a:t> - Retrieves relevant interview questions, role-specific knowledge, </a:t>
            </a:r>
            <a:r>
              <a:rPr lang="en-IN" sz="1800" dirty="0" err="1"/>
              <a:t>behavioral</a:t>
            </a:r>
            <a:r>
              <a:rPr lang="en-IN" sz="1800" dirty="0"/>
              <a:t> scenarios, and preparation guidance from the project knowledge base before generating responses.</a:t>
            </a:r>
          </a:p>
          <a:p>
            <a:pPr algn="just"/>
            <a:r>
              <a:rPr lang="en-IN" sz="1800" dirty="0"/>
              <a:t>• </a:t>
            </a:r>
            <a:r>
              <a:rPr lang="en-IN" sz="1800" b="1" dirty="0"/>
              <a:t>Python</a:t>
            </a:r>
            <a:r>
              <a:rPr lang="en-IN" sz="1800" dirty="0"/>
              <a:t> - Used for implementing the backend logic, RAG pipeline, agent workflow, interview evaluation, and application functionality.</a:t>
            </a:r>
          </a:p>
          <a:p>
            <a:pPr algn="just"/>
            <a:r>
              <a:rPr lang="en-IN" sz="1800" dirty="0"/>
              <a:t>• </a:t>
            </a:r>
            <a:r>
              <a:rPr lang="en-IN" sz="1800" b="1" dirty="0"/>
              <a:t>Vector Database (</a:t>
            </a:r>
            <a:r>
              <a:rPr lang="en-IN" sz="1800" b="1" dirty="0" err="1"/>
              <a:t>ChromaDB</a:t>
            </a:r>
            <a:r>
              <a:rPr lang="en-IN" sz="1800" b="1" dirty="0"/>
              <a:t> and SQLite)</a:t>
            </a:r>
            <a:r>
              <a:rPr lang="en-IN" sz="1800" dirty="0"/>
              <a:t> - Used to store and retrieve embedded interview-preparation documents efficiently for RAG-based contextual responses.</a:t>
            </a:r>
          </a:p>
          <a:p>
            <a:pPr algn="just"/>
            <a:r>
              <a:rPr lang="en-IN" sz="1800" dirty="0"/>
              <a:t>• </a:t>
            </a:r>
            <a:r>
              <a:rPr lang="en-IN" sz="1800" b="1" dirty="0"/>
              <a:t>Web Application Interface</a:t>
            </a:r>
            <a:r>
              <a:rPr lang="en-IN" sz="1800" dirty="0"/>
              <a:t> - Provides a user-friendly interface where candidates can enter their profile, experience level, job role, resume details, and interact with the Interview Trainer Agent.</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rcRect/>
          <a:stretch/>
        </p:blipFill>
        <p:spPr>
          <a:xfrm>
            <a:off x="1201438" y="863187"/>
            <a:ext cx="9487269"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rcRect/>
          <a:stretch/>
        </p:blipFill>
        <p:spPr>
          <a:xfrm>
            <a:off x="1367683" y="862241"/>
            <a:ext cx="9456634"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715492" y="570605"/>
            <a:ext cx="10761015" cy="5716790"/>
          </a:xfrm>
          <a:prstGeom prst="rect">
            <a:avLst/>
          </a:prstGeom>
        </p:spPr>
      </p:pic>
      <p:sp>
        <p:nvSpPr>
          <p:cNvPr id="3" name="Rectangle 2">
            <a:extLst>
              <a:ext uri="{FF2B5EF4-FFF2-40B4-BE49-F238E27FC236}">
                <a16:creationId xmlns:a16="http://schemas.microsoft.com/office/drawing/2014/main" id="{E53F789F-400B-5E24-30CB-49E205E54C82}"/>
              </a:ext>
            </a:extLst>
          </p:cNvPr>
          <p:cNvSpPr/>
          <p:nvPr/>
        </p:nvSpPr>
        <p:spPr>
          <a:xfrm>
            <a:off x="3596640" y="2100580"/>
            <a:ext cx="2712720" cy="2438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10987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rcRect l="16434" r="16877" b="66096"/>
          <a:stretch>
            <a:fillRect/>
          </a:stretch>
        </p:blipFill>
        <p:spPr>
          <a:xfrm>
            <a:off x="0" y="1263061"/>
            <a:ext cx="6446519" cy="4114282"/>
          </a:xfrm>
          <a:prstGeom prst="rect">
            <a:avLst/>
          </a:prstGeom>
        </p:spPr>
      </p:pic>
      <p:pic>
        <p:nvPicPr>
          <p:cNvPr id="4" name="Picture 3">
            <a:extLst>
              <a:ext uri="{FF2B5EF4-FFF2-40B4-BE49-F238E27FC236}">
                <a16:creationId xmlns:a16="http://schemas.microsoft.com/office/drawing/2014/main" id="{015A64E7-4B2F-5EDC-56DE-AA966C983623}"/>
              </a:ext>
            </a:extLst>
          </p:cNvPr>
          <p:cNvPicPr>
            <a:picLocks noChangeAspect="1"/>
          </p:cNvPicPr>
          <p:nvPr/>
        </p:nvPicPr>
        <p:blipFill>
          <a:blip r:embed="rId3"/>
          <a:srcRect l="15502" t="34005" r="15360" b="3976"/>
          <a:stretch>
            <a:fillRect/>
          </a:stretch>
        </p:blipFill>
        <p:spPr>
          <a:xfrm>
            <a:off x="6266576" y="486560"/>
            <a:ext cx="5679347" cy="637143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76552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276557" y="86694"/>
            <a:ext cx="11110770" cy="523220"/>
          </a:xfrm>
          <a:prstGeom prst="rect">
            <a:avLst/>
          </a:prstGeom>
          <a:noFill/>
        </p:spPr>
        <p:txBody>
          <a:bodyPr wrap="square" rtlCol="0">
            <a:spAutoFit/>
          </a:bodyPr>
          <a:lstStyle/>
          <a:p>
            <a:r>
              <a:rPr lang="en-IN" sz="2800" b="1" dirty="0"/>
              <a:t>Role of Agentic AI in the Solution — AI Interview Trainer Agent</a:t>
            </a:r>
          </a:p>
        </p:txBody>
      </p:sp>
      <p:sp>
        <p:nvSpPr>
          <p:cNvPr id="3" name="TextBox 2">
            <a:extLst>
              <a:ext uri="{FF2B5EF4-FFF2-40B4-BE49-F238E27FC236}">
                <a16:creationId xmlns:a16="http://schemas.microsoft.com/office/drawing/2014/main" id="{322462E8-EB3A-DA7D-44CB-4E757803A755}"/>
              </a:ext>
            </a:extLst>
          </p:cNvPr>
          <p:cNvSpPr txBox="1"/>
          <p:nvPr/>
        </p:nvSpPr>
        <p:spPr>
          <a:xfrm>
            <a:off x="276557" y="609914"/>
            <a:ext cx="8219261" cy="6494085"/>
          </a:xfrm>
          <a:prstGeom prst="rect">
            <a:avLst/>
          </a:prstGeom>
          <a:noFill/>
        </p:spPr>
        <p:txBody>
          <a:bodyPr wrap="square" rtlCol="0">
            <a:spAutoFit/>
          </a:bodyPr>
          <a:lstStyle/>
          <a:p>
            <a:r>
              <a:rPr lang="en-IN" sz="1600" b="1" dirty="0"/>
              <a:t>Role of Agentic AI in AI Interview Trainer Agent</a:t>
            </a:r>
            <a:br>
              <a:rPr lang="en-IN" sz="1600" dirty="0"/>
            </a:br>
            <a:r>
              <a:rPr lang="en-IN" sz="1600" dirty="0"/>
              <a:t>Agentic AI enables the Interview Trainer Agent to work as an </a:t>
            </a:r>
            <a:r>
              <a:rPr lang="en-IN" sz="1600" b="1" dirty="0"/>
              <a:t>intelligent, goal-oriented system</a:t>
            </a:r>
            <a:r>
              <a:rPr lang="en-IN" sz="1600" dirty="0"/>
              <a:t> rather than a simple chatbot. Using </a:t>
            </a:r>
            <a:r>
              <a:rPr lang="en-IN" sz="1600" b="1" dirty="0"/>
              <a:t>IBM watsonx.ai and IBM Granite models</a:t>
            </a:r>
            <a:r>
              <a:rPr lang="en-IN" sz="1600" dirty="0"/>
              <a:t>, the solution coordinates different AI capabilities to provide personalized interview preparation.</a:t>
            </a:r>
          </a:p>
          <a:p>
            <a:pPr algn="just"/>
            <a:r>
              <a:rPr lang="en-IN" sz="1600" dirty="0"/>
              <a:t>The system uses a </a:t>
            </a:r>
            <a:r>
              <a:rPr lang="en-IN" sz="1600" b="1" dirty="0"/>
              <a:t>multi-agent approach</a:t>
            </a:r>
            <a:r>
              <a:rPr lang="en-IN" sz="1600" dirty="0"/>
              <a:t> where specialized agents handle tasks such as </a:t>
            </a:r>
            <a:r>
              <a:rPr lang="en-IN" sz="1600" b="1" dirty="0"/>
              <a:t>candidate profiling, RAG-based question retrieval, interview question generation, answer evaluation, and personalized feedback</a:t>
            </a:r>
            <a:r>
              <a:rPr lang="en-IN" sz="1600" dirty="0"/>
              <a:t>.</a:t>
            </a:r>
          </a:p>
          <a:p>
            <a:pPr algn="just"/>
            <a:r>
              <a:rPr lang="en-IN" sz="1600" dirty="0"/>
              <a:t>The </a:t>
            </a:r>
            <a:r>
              <a:rPr lang="en-IN" sz="1600" b="1" dirty="0"/>
              <a:t>RAG component</a:t>
            </a:r>
            <a:r>
              <a:rPr lang="en-IN" sz="1600" dirty="0"/>
              <a:t> retrieves relevant interview questions, role expectations, technical concepts, </a:t>
            </a:r>
            <a:r>
              <a:rPr lang="en-IN" sz="1600" dirty="0" err="1"/>
              <a:t>behavioral</a:t>
            </a:r>
            <a:r>
              <a:rPr lang="en-IN" sz="1600" dirty="0"/>
              <a:t> scenarios, and HR guidance from the project's knowledge base before generating responses. This helps the agent provide </a:t>
            </a:r>
            <a:r>
              <a:rPr lang="en-IN" sz="1600" b="1" dirty="0"/>
              <a:t>role-specific and context-aware preparation</a:t>
            </a:r>
            <a:r>
              <a:rPr lang="en-IN" sz="1600" dirty="0"/>
              <a:t> instead of generic questions.</a:t>
            </a:r>
          </a:p>
          <a:p>
            <a:pPr algn="just"/>
            <a:r>
              <a:rPr lang="en-IN" sz="1600" dirty="0"/>
              <a:t>The agent understands inputs such as the </a:t>
            </a:r>
            <a:r>
              <a:rPr lang="en-IN" sz="1600" b="1" dirty="0"/>
              <a:t>candidate's profile, experience level, job role, resume, and selected interview type</a:t>
            </a:r>
            <a:r>
              <a:rPr lang="en-IN" sz="1600" dirty="0"/>
              <a:t>. Based on this context, it dynamically creates suitable interview questions and preparation strategies.</a:t>
            </a:r>
          </a:p>
          <a:p>
            <a:pPr algn="just"/>
            <a:r>
              <a:rPr lang="en-IN" sz="1600" dirty="0"/>
              <a:t>During practice, the system evaluates the candidate's answers and provides </a:t>
            </a:r>
            <a:r>
              <a:rPr lang="en-IN" sz="1600" b="1" dirty="0"/>
              <a:t>model answers, strengths, weaknesses, improvement suggestions, and follow-up questions</a:t>
            </a:r>
            <a:r>
              <a:rPr lang="en-IN" sz="1600" dirty="0"/>
              <a:t>. It can support both </a:t>
            </a:r>
            <a:r>
              <a:rPr lang="en-IN" sz="1600" b="1" dirty="0"/>
              <a:t>technical and </a:t>
            </a:r>
            <a:r>
              <a:rPr lang="en-IN" sz="1600" b="1" dirty="0" err="1"/>
              <a:t>behavioral</a:t>
            </a:r>
            <a:r>
              <a:rPr lang="en-IN" sz="1600" b="1" dirty="0"/>
              <a:t>/HR interview preparation</a:t>
            </a:r>
            <a:r>
              <a:rPr lang="en-IN" sz="1600" dirty="0"/>
              <a:t> across different job roles.</a:t>
            </a:r>
          </a:p>
          <a:p>
            <a:pPr algn="just"/>
            <a:r>
              <a:rPr lang="en-IN" sz="1600" dirty="0"/>
              <a:t>Agentic AI also enables </a:t>
            </a:r>
            <a:r>
              <a:rPr lang="en-IN" sz="1600" b="1" dirty="0"/>
              <a:t>adaptive interview sessions</a:t>
            </a:r>
            <a:r>
              <a:rPr lang="en-IN" sz="1600" dirty="0"/>
              <a:t>, where the difficulty and type of questions can change according to the candidate's previous responses and performance.</a:t>
            </a:r>
          </a:p>
          <a:p>
            <a:pPr algn="just"/>
            <a:r>
              <a:rPr lang="en-IN" sz="1600" dirty="0"/>
              <a:t>Overall, Agentic AI transforms the solution into a </a:t>
            </a:r>
            <a:r>
              <a:rPr lang="en-IN" sz="1600" b="1" dirty="0"/>
              <a:t>personalized AI interview coach</a:t>
            </a:r>
            <a:r>
              <a:rPr lang="en-IN" sz="1600" dirty="0"/>
              <a:t> that can retrieve knowledge, reason over candidate context, conduct interview practice, evaluate responses, and continuously guide the user toward better interview performance.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229716"/>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Token Usage </a:t>
            </a:r>
            <a:endParaRPr sz="28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t>1,97,435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246927" y="2118177"/>
            <a:ext cx="5587961" cy="3518694"/>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315919" y="2118177"/>
            <a:ext cx="5629154" cy="3518694"/>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669307" y="151138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758896" y="1541201"/>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922395" y="885593"/>
            <a:ext cx="10160522"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1107619" y="1004536"/>
            <a:ext cx="940160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811546" y="800029"/>
            <a:ext cx="10568908"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0967-660D-6CD4-4191-355FAADE2285}"/>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CB19353E-DF0D-DAB1-FFDE-BF5A08185B94}"/>
              </a:ext>
            </a:extLst>
          </p:cNvPr>
          <p:cNvSpPr>
            <a:spLocks noGrp="1"/>
          </p:cNvSpPr>
          <p:nvPr>
            <p:ph type="body" idx="1"/>
          </p:nvPr>
        </p:nvSpPr>
        <p:spPr/>
        <p:txBody>
          <a:bodyPr/>
          <a:lstStyle/>
          <a:p>
            <a:endParaRPr lang="en-IN" dirty="0"/>
          </a:p>
        </p:txBody>
      </p:sp>
      <p:sp>
        <p:nvSpPr>
          <p:cNvPr id="5" name="TextBox 4">
            <a:extLst>
              <a:ext uri="{FF2B5EF4-FFF2-40B4-BE49-F238E27FC236}">
                <a16:creationId xmlns:a16="http://schemas.microsoft.com/office/drawing/2014/main" id="{313730C2-E8FB-3DA8-50DD-A62065996AE9}"/>
              </a:ext>
            </a:extLst>
          </p:cNvPr>
          <p:cNvSpPr txBox="1"/>
          <p:nvPr/>
        </p:nvSpPr>
        <p:spPr>
          <a:xfrm>
            <a:off x="520861" y="306685"/>
            <a:ext cx="4166525" cy="461665"/>
          </a:xfrm>
          <a:prstGeom prst="rect">
            <a:avLst/>
          </a:prstGeom>
          <a:noFill/>
        </p:spPr>
        <p:txBody>
          <a:bodyPr wrap="none" rtlCol="0">
            <a:spAutoFit/>
          </a:bodyPr>
          <a:lstStyle/>
          <a:p>
            <a:r>
              <a:rPr lang="en-US" sz="2400" b="1" dirty="0">
                <a:sym typeface="Times New Roman"/>
              </a:rPr>
              <a:t> Project Output Screenshot</a:t>
            </a:r>
          </a:p>
        </p:txBody>
      </p:sp>
      <p:pic>
        <p:nvPicPr>
          <p:cNvPr id="7" name="Picture 6">
            <a:extLst>
              <a:ext uri="{FF2B5EF4-FFF2-40B4-BE49-F238E27FC236}">
                <a16:creationId xmlns:a16="http://schemas.microsoft.com/office/drawing/2014/main" id="{8C6C402B-28A5-D0A3-198E-9A5DF6E08D20}"/>
              </a:ext>
            </a:extLst>
          </p:cNvPr>
          <p:cNvPicPr>
            <a:picLocks noChangeAspect="1"/>
          </p:cNvPicPr>
          <p:nvPr/>
        </p:nvPicPr>
        <p:blipFill>
          <a:blip r:embed="rId2"/>
          <a:stretch>
            <a:fillRect/>
          </a:stretch>
        </p:blipFill>
        <p:spPr>
          <a:xfrm>
            <a:off x="672698" y="937549"/>
            <a:ext cx="10833904" cy="5405421"/>
          </a:xfrm>
          <a:prstGeom prst="rect">
            <a:avLst/>
          </a:prstGeom>
        </p:spPr>
      </p:pic>
    </p:spTree>
    <p:extLst>
      <p:ext uri="{BB962C8B-B14F-4D97-AF65-F5344CB8AC3E}">
        <p14:creationId xmlns:p14="http://schemas.microsoft.com/office/powerpoint/2010/main" val="2655672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2D4D95-5741-FCC1-E752-3E6A854D5D1D}"/>
              </a:ext>
            </a:extLst>
          </p:cNvPr>
          <p:cNvSpPr txBox="1"/>
          <p:nvPr/>
        </p:nvSpPr>
        <p:spPr>
          <a:xfrm>
            <a:off x="474562" y="306685"/>
            <a:ext cx="4166525" cy="461665"/>
          </a:xfrm>
          <a:prstGeom prst="rect">
            <a:avLst/>
          </a:prstGeom>
          <a:noFill/>
        </p:spPr>
        <p:txBody>
          <a:bodyPr wrap="none" rtlCol="0">
            <a:spAutoFit/>
          </a:bodyPr>
          <a:lstStyle/>
          <a:p>
            <a:r>
              <a:rPr lang="en-US" sz="2400" b="1" dirty="0"/>
              <a:t> Project Output Screenshot</a:t>
            </a:r>
            <a:endParaRPr lang="en-IN" sz="2400" dirty="0"/>
          </a:p>
        </p:txBody>
      </p:sp>
      <p:pic>
        <p:nvPicPr>
          <p:cNvPr id="6" name="Picture 5">
            <a:extLst>
              <a:ext uri="{FF2B5EF4-FFF2-40B4-BE49-F238E27FC236}">
                <a16:creationId xmlns:a16="http://schemas.microsoft.com/office/drawing/2014/main" id="{5252A693-F9CD-2C57-DE48-51BE45314360}"/>
              </a:ext>
            </a:extLst>
          </p:cNvPr>
          <p:cNvPicPr>
            <a:picLocks noChangeAspect="1"/>
          </p:cNvPicPr>
          <p:nvPr/>
        </p:nvPicPr>
        <p:blipFill>
          <a:blip r:embed="rId2"/>
          <a:stretch>
            <a:fillRect/>
          </a:stretch>
        </p:blipFill>
        <p:spPr>
          <a:xfrm>
            <a:off x="104173" y="1921396"/>
            <a:ext cx="5440100" cy="3635817"/>
          </a:xfrm>
          <a:prstGeom prst="rect">
            <a:avLst/>
          </a:prstGeom>
        </p:spPr>
      </p:pic>
      <p:pic>
        <p:nvPicPr>
          <p:cNvPr id="8" name="Picture 7">
            <a:extLst>
              <a:ext uri="{FF2B5EF4-FFF2-40B4-BE49-F238E27FC236}">
                <a16:creationId xmlns:a16="http://schemas.microsoft.com/office/drawing/2014/main" id="{F46AA5AD-D221-588C-A7C2-39B9335C8F66}"/>
              </a:ext>
            </a:extLst>
          </p:cNvPr>
          <p:cNvPicPr>
            <a:picLocks noChangeAspect="1"/>
          </p:cNvPicPr>
          <p:nvPr/>
        </p:nvPicPr>
        <p:blipFill>
          <a:blip r:embed="rId3"/>
          <a:stretch>
            <a:fillRect/>
          </a:stretch>
        </p:blipFill>
        <p:spPr>
          <a:xfrm>
            <a:off x="5613721" y="1921396"/>
            <a:ext cx="6474106" cy="3635817"/>
          </a:xfrm>
          <a:prstGeom prst="rect">
            <a:avLst/>
          </a:prstGeom>
        </p:spPr>
      </p:pic>
    </p:spTree>
    <p:extLst>
      <p:ext uri="{BB962C8B-B14F-4D97-AF65-F5344CB8AC3E}">
        <p14:creationId xmlns:p14="http://schemas.microsoft.com/office/powerpoint/2010/main" val="3045763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A24220-99BB-3178-0550-3D5DC25CD9FD}"/>
              </a:ext>
            </a:extLst>
          </p:cNvPr>
          <p:cNvPicPr>
            <a:picLocks noChangeAspect="1"/>
          </p:cNvPicPr>
          <p:nvPr/>
        </p:nvPicPr>
        <p:blipFill>
          <a:blip r:embed="rId2"/>
          <a:stretch>
            <a:fillRect/>
          </a:stretch>
        </p:blipFill>
        <p:spPr>
          <a:xfrm>
            <a:off x="619245" y="1215342"/>
            <a:ext cx="10953509" cy="5232239"/>
          </a:xfrm>
          <a:prstGeom prst="rect">
            <a:avLst/>
          </a:prstGeom>
        </p:spPr>
      </p:pic>
      <p:sp>
        <p:nvSpPr>
          <p:cNvPr id="6" name="TextBox 5">
            <a:extLst>
              <a:ext uri="{FF2B5EF4-FFF2-40B4-BE49-F238E27FC236}">
                <a16:creationId xmlns:a16="http://schemas.microsoft.com/office/drawing/2014/main" id="{AA46A438-44F1-8F37-8CA3-86875A652520}"/>
              </a:ext>
            </a:extLst>
          </p:cNvPr>
          <p:cNvSpPr txBox="1"/>
          <p:nvPr/>
        </p:nvSpPr>
        <p:spPr>
          <a:xfrm>
            <a:off x="416688" y="410419"/>
            <a:ext cx="4166525" cy="461665"/>
          </a:xfrm>
          <a:prstGeom prst="rect">
            <a:avLst/>
          </a:prstGeom>
          <a:noFill/>
        </p:spPr>
        <p:txBody>
          <a:bodyPr wrap="none" rtlCol="0">
            <a:spAutoFit/>
          </a:bodyPr>
          <a:lstStyle/>
          <a:p>
            <a:r>
              <a:rPr lang="en-US" sz="2400" b="1" dirty="0"/>
              <a:t> Project Output Screenshot</a:t>
            </a:r>
            <a:endParaRPr lang="en-IN" sz="2400" dirty="0"/>
          </a:p>
        </p:txBody>
      </p:sp>
    </p:spTree>
    <p:extLst>
      <p:ext uri="{BB962C8B-B14F-4D97-AF65-F5344CB8AC3E}">
        <p14:creationId xmlns:p14="http://schemas.microsoft.com/office/powerpoint/2010/main" val="3699521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45008" y="27939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946297"/>
            <a:ext cx="11301984" cy="5632311"/>
          </a:xfrm>
          <a:prstGeom prst="rect">
            <a:avLst/>
          </a:prstGeom>
          <a:noFill/>
        </p:spPr>
        <p:txBody>
          <a:bodyPr wrap="square" rtlCol="0">
            <a:spAutoFit/>
          </a:bodyPr>
          <a:lstStyle/>
          <a:p>
            <a:pPr algn="just"/>
            <a:r>
              <a:rPr lang="en-IN" sz="1800" dirty="0"/>
              <a:t>The proposed </a:t>
            </a:r>
            <a:r>
              <a:rPr lang="en-IN" sz="1800" b="1" dirty="0"/>
              <a:t>AI Interview Trainer Agent</a:t>
            </a:r>
            <a:r>
              <a:rPr lang="en-IN" sz="1800" dirty="0"/>
              <a:t> combines </a:t>
            </a:r>
            <a:r>
              <a:rPr lang="en-IN" sz="1800" b="1" dirty="0"/>
              <a:t>Agentic AI, RAG, IBM Granite, and personalized interview simulation</a:t>
            </a:r>
            <a:r>
              <a:rPr lang="en-IN" sz="1800" dirty="0"/>
              <a:t> into a single intelligent interview preparation system.</a:t>
            </a:r>
          </a:p>
          <a:p>
            <a:pPr algn="just"/>
            <a:r>
              <a:rPr lang="en-IN" sz="1800" b="1" dirty="0"/>
              <a:t>Multi-Agent Intelligence</a:t>
            </a:r>
            <a:r>
              <a:rPr lang="en-IN" sz="1800" dirty="0"/>
              <a:t> – Uses specialized agents for resume analysis, interview question generation, mock interviews, answer evaluation, and personalized feedback.</a:t>
            </a:r>
          </a:p>
          <a:p>
            <a:pPr algn="just"/>
            <a:r>
              <a:rPr lang="en-IN" sz="1800" b="1" dirty="0"/>
              <a:t>RAG-Based Accuracy</a:t>
            </a:r>
            <a:r>
              <a:rPr lang="en-IN" sz="1800" dirty="0"/>
              <a:t> – Retrieves relevant interview knowledge, role expectations, technical concepts, </a:t>
            </a:r>
            <a:r>
              <a:rPr lang="en-IN" sz="1800" dirty="0" err="1"/>
              <a:t>behavioral</a:t>
            </a:r>
            <a:r>
              <a:rPr lang="en-IN" sz="1800" dirty="0"/>
              <a:t> scenarios, and HR guidance before generating responses.</a:t>
            </a:r>
          </a:p>
          <a:p>
            <a:pPr algn="just"/>
            <a:r>
              <a:rPr lang="en-IN" sz="1800" b="1" dirty="0"/>
              <a:t>Resume &amp; Role Personalization</a:t>
            </a:r>
            <a:r>
              <a:rPr lang="en-IN" sz="1800" dirty="0"/>
              <a:t> – Tailors interview questions and preparation strategies according to the candidate's </a:t>
            </a:r>
            <a:r>
              <a:rPr lang="en-IN" sz="1800" b="1" dirty="0"/>
              <a:t>resume, skills, experience level, and target job role</a:t>
            </a:r>
            <a:r>
              <a:rPr lang="en-IN" sz="1800" dirty="0"/>
              <a:t>.</a:t>
            </a:r>
          </a:p>
          <a:p>
            <a:pPr algn="just"/>
            <a:r>
              <a:rPr lang="en-IN" sz="1800" b="1" dirty="0"/>
              <a:t>Adaptive Mock Interviews</a:t>
            </a:r>
            <a:r>
              <a:rPr lang="en-IN" sz="1800" dirty="0"/>
              <a:t> – Dynamically conducts technical, HR, and </a:t>
            </a:r>
            <a:r>
              <a:rPr lang="en-IN" sz="1800" dirty="0" err="1"/>
              <a:t>behavioral</a:t>
            </a:r>
            <a:r>
              <a:rPr lang="en-IN" sz="1800" dirty="0"/>
              <a:t> interviews and adapts questions based on the candidate's responses.</a:t>
            </a:r>
          </a:p>
          <a:p>
            <a:pPr algn="just"/>
            <a:r>
              <a:rPr lang="en-IN" sz="1800" b="1" dirty="0"/>
              <a:t>Detailed Answer Evaluation</a:t>
            </a:r>
            <a:r>
              <a:rPr lang="en-IN" sz="1800" dirty="0"/>
              <a:t> – Evaluates answers using </a:t>
            </a:r>
            <a:r>
              <a:rPr lang="en-IN" sz="1800" b="1" dirty="0"/>
              <a:t>technical correctness, relevance, clarity, communication, and completeness</a:t>
            </a:r>
            <a:r>
              <a:rPr lang="en-IN" sz="1800" dirty="0"/>
              <a:t>, while identifying strengths and weaknesses.</a:t>
            </a:r>
          </a:p>
          <a:p>
            <a:pPr algn="just"/>
            <a:r>
              <a:rPr lang="en-IN" sz="1800" b="1" dirty="0"/>
              <a:t>Actionable Feedback Loop</a:t>
            </a:r>
            <a:r>
              <a:rPr lang="en-IN" sz="1800" dirty="0"/>
              <a:t> – Provides specific improvement suggestions after each response, helping candidates continuously improve their interview performance.</a:t>
            </a:r>
          </a:p>
          <a:p>
            <a:pPr algn="just"/>
            <a:r>
              <a:rPr lang="en-IN" sz="1800" b="1" dirty="0"/>
              <a:t>Multi-Role Support</a:t>
            </a:r>
            <a:r>
              <a:rPr lang="en-IN" sz="1800" dirty="0"/>
              <a:t> – Can prepare candidates for different job roles by changing the target role and interview context instead of being limited to a single profession.</a:t>
            </a:r>
          </a:p>
          <a:p>
            <a:pPr algn="just"/>
            <a:r>
              <a:rPr lang="en-IN" sz="1800" b="1" dirty="0"/>
              <a:t>IBM-Powered AI</a:t>
            </a:r>
            <a:r>
              <a:rPr lang="en-IN" sz="1800" dirty="0"/>
              <a:t> – Uses </a:t>
            </a:r>
            <a:r>
              <a:rPr lang="en-IN" sz="1800" b="1" dirty="0"/>
              <a:t>IBM watsonx.ai and IBM Granite models</a:t>
            </a:r>
            <a:r>
              <a:rPr lang="en-IN" sz="1800" dirty="0"/>
              <a:t> for intelligent question generation, reasoning, evaluation, and personalized interview guidance.</a:t>
            </a:r>
          </a:p>
          <a:p>
            <a:pPr algn="just"/>
            <a:r>
              <a:rPr lang="en-IN" sz="1800" dirty="0"/>
              <a:t>This makes the solution a </a:t>
            </a:r>
            <a:r>
              <a:rPr lang="en-IN" sz="1800" b="1" dirty="0"/>
              <a:t>smart, adaptive, and personalized AI interview coach</a:t>
            </a:r>
            <a:r>
              <a:rPr lang="en-IN" sz="1800" dirty="0"/>
              <a:t>, rather than a simple question-and-answer chatbot.</a:t>
            </a:r>
          </a:p>
        </p:txBody>
      </p:sp>
    </p:spTree>
    <p:extLst>
      <p:ext uri="{BB962C8B-B14F-4D97-AF65-F5344CB8AC3E}">
        <p14:creationId xmlns:p14="http://schemas.microsoft.com/office/powerpoint/2010/main" val="2325282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24746"/>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https://github.com/sivaneshk23/AI-Interview-Coach</a:t>
            </a:r>
            <a:r>
              <a:rPr lang="en-US" sz="1850"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3A7DCFA-3CC9-CBC3-5930-FD3D650A93F0}"/>
              </a:ext>
            </a:extLst>
          </p:cNvPr>
          <p:cNvPicPr>
            <a:picLocks noChangeAspect="1"/>
          </p:cNvPicPr>
          <p:nvPr/>
        </p:nvPicPr>
        <p:blipFill>
          <a:blip r:embed="rId4"/>
          <a:stretch>
            <a:fillRect/>
          </a:stretch>
        </p:blipFill>
        <p:spPr>
          <a:xfrm>
            <a:off x="875817" y="1655143"/>
            <a:ext cx="10440365" cy="5029237"/>
          </a:xfrm>
          <a:prstGeom prst="rect">
            <a:avLst/>
          </a:prstGeom>
        </p:spPr>
      </p:pic>
    </p:spTree>
    <p:extLst>
      <p:ext uri="{BB962C8B-B14F-4D97-AF65-F5344CB8AC3E}">
        <p14:creationId xmlns:p14="http://schemas.microsoft.com/office/powerpoint/2010/main" val="4040412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648182"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23C9C7E-DD07-3126-4F70-92FAE9673AC5}"/>
              </a:ext>
            </a:extLst>
          </p:cNvPr>
          <p:cNvSpPr txBox="1"/>
          <p:nvPr/>
        </p:nvSpPr>
        <p:spPr>
          <a:xfrm>
            <a:off x="648182" y="1124746"/>
            <a:ext cx="10035252" cy="5509200"/>
          </a:xfrm>
          <a:prstGeom prst="rect">
            <a:avLst/>
          </a:prstGeom>
          <a:noFill/>
        </p:spPr>
        <p:txBody>
          <a:bodyPr wrap="square" rtlCol="0">
            <a:spAutoFit/>
          </a:bodyPr>
          <a:lstStyle/>
          <a:p>
            <a:r>
              <a:rPr lang="en-IN" sz="1600" b="1" dirty="0"/>
              <a:t>1. Advanced Resume &amp; Job Description Analysis –</a:t>
            </a:r>
            <a:br>
              <a:rPr lang="en-IN" sz="1600" dirty="0"/>
            </a:br>
            <a:r>
              <a:rPr lang="en-IN" sz="1600" dirty="0"/>
              <a:t>The system can be enhanced to perform deeper analysis of resumes and job descriptions to identify skill gaps, missing keywords, and role-specific requirements. This will help users understand exactly what they need to improve before applying for a position.</a:t>
            </a:r>
          </a:p>
          <a:p>
            <a:r>
              <a:rPr lang="en-IN" sz="1600" b="1" dirty="0"/>
              <a:t>2. Personalized Interview Performance Tracking –</a:t>
            </a:r>
            <a:br>
              <a:rPr lang="en-IN" sz="1600" dirty="0"/>
            </a:br>
            <a:r>
              <a:rPr lang="en-IN" sz="1600" dirty="0"/>
              <a:t>Future versions can maintain interview history and track performance across multiple sessions, including technical accuracy, confidence, communication quality, and weak areas. This will enable users to measure their improvement over time.</a:t>
            </a:r>
          </a:p>
          <a:p>
            <a:r>
              <a:rPr lang="en-IN" sz="1600" b="1" dirty="0"/>
              <a:t>3. Multilingual &amp; Voice-Based Interview Practice –</a:t>
            </a:r>
            <a:br>
              <a:rPr lang="en-IN" sz="1600" dirty="0"/>
            </a:br>
            <a:r>
              <a:rPr lang="en-IN" sz="1600" dirty="0"/>
              <a:t>The agent can be extended with voice interaction and multilingual support, allowing users to answer questions verbally and practice interviews in their preferred language. Speech analysis can provide feedback on clarity, fluency, and communication.</a:t>
            </a:r>
          </a:p>
          <a:p>
            <a:r>
              <a:rPr lang="en-IN" sz="1600" b="1" dirty="0"/>
              <a:t>4. Company-Specific Interview Preparation –</a:t>
            </a:r>
            <a:br>
              <a:rPr lang="en-IN" sz="1600" dirty="0"/>
            </a:br>
            <a:r>
              <a:rPr lang="en-IN" sz="1600" dirty="0"/>
              <a:t>The system can integrate company-specific interview patterns, job requirements, and publicly available recruitment information to generate more targeted preparation plans for particular companies and roles.</a:t>
            </a:r>
          </a:p>
          <a:p>
            <a:r>
              <a:rPr lang="en-IN" sz="1600" b="1" dirty="0"/>
              <a:t>5. Advanced AI Interview Simulation –</a:t>
            </a:r>
            <a:br>
              <a:rPr lang="en-IN" sz="1600" dirty="0"/>
            </a:br>
            <a:r>
              <a:rPr lang="en-IN" sz="1600" dirty="0"/>
              <a:t>A future version can provide complete mock interviews where the AI dynamically selects follow-up questions based on the user's previous answers, creating a more realistic interview experience.</a:t>
            </a:r>
          </a:p>
          <a:p>
            <a:r>
              <a:rPr lang="en-IN" sz="1600" b="1" dirty="0"/>
              <a:t>6. Continuous RAG Knowledge Updates –</a:t>
            </a:r>
            <a:br>
              <a:rPr lang="en-IN" sz="1600" dirty="0"/>
            </a:br>
            <a:r>
              <a:rPr lang="en-IN" sz="1600" dirty="0"/>
              <a:t>The RAG knowledge base can be continuously updated with current interview questions, industry trends, technical requirements, and hiring expectations to keep the generated preparation content relevant.</a:t>
            </a:r>
          </a:p>
          <a:p>
            <a:endParaRPr lang="en-IN" sz="1600" dirty="0"/>
          </a:p>
        </p:txBody>
      </p:sp>
    </p:spTree>
    <p:extLst>
      <p:ext uri="{BB962C8B-B14F-4D97-AF65-F5344CB8AC3E}">
        <p14:creationId xmlns:p14="http://schemas.microsoft.com/office/powerpoint/2010/main" val="740028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640466" y="318316"/>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10" name="Picture 9">
            <a:extLst>
              <a:ext uri="{FF2B5EF4-FFF2-40B4-BE49-F238E27FC236}">
                <a16:creationId xmlns:a16="http://schemas.microsoft.com/office/drawing/2014/main" id="{90C3518E-AA13-64A5-EDC8-2634891CC4BC}"/>
              </a:ext>
            </a:extLst>
          </p:cNvPr>
          <p:cNvPicPr>
            <a:picLocks noChangeAspect="1"/>
          </p:cNvPicPr>
          <p:nvPr/>
        </p:nvPicPr>
        <p:blipFill>
          <a:blip r:embed="rId2"/>
          <a:stretch>
            <a:fillRect/>
          </a:stretch>
        </p:blipFill>
        <p:spPr>
          <a:xfrm>
            <a:off x="1658470" y="995424"/>
            <a:ext cx="8875059" cy="586257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3580B463-7E9B-B7E9-75B0-2B655F1AEF22}"/>
              </a:ext>
            </a:extLst>
          </p:cNvPr>
          <p:cNvPicPr>
            <a:picLocks noChangeAspect="1"/>
          </p:cNvPicPr>
          <p:nvPr/>
        </p:nvPicPr>
        <p:blipFill>
          <a:blip r:embed="rId2"/>
          <a:stretch>
            <a:fillRect/>
          </a:stretch>
        </p:blipFill>
        <p:spPr>
          <a:xfrm rot="5400000">
            <a:off x="3064595" y="-108799"/>
            <a:ext cx="5673130" cy="8260467"/>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1754</Words>
  <Application>Microsoft Office PowerPoint</Application>
  <PresentationFormat>Widescreen</PresentationFormat>
  <Paragraphs>101</Paragraphs>
  <Slides>23</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Sivanesh K</cp:lastModifiedBy>
  <cp:revision>4</cp:revision>
  <dcterms:created xsi:type="dcterms:W3CDTF">2025-07-08T05:06:56Z</dcterms:created>
  <dcterms:modified xsi:type="dcterms:W3CDTF">2026-09-11T05:53:03Z</dcterms:modified>
</cp:coreProperties>
</file>